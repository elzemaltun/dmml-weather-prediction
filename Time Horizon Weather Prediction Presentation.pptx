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Merriweather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22" Type="http://schemas.openxmlformats.org/officeDocument/2006/relationships/font" Target="fonts/Merriweather-boldItalic.fntdata"/><Relationship Id="rId21" Type="http://schemas.openxmlformats.org/officeDocument/2006/relationships/font" Target="fonts/Merriweather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erriweather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Time Horizon Weather Prediction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Machine Learning Model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102941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A Comparative Analysis of ML Techniques for Multi-Step Forecasting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979241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Author: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Sehen Elzem Altun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503116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Faculty of Computer Science and Engineering, University of Bologna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381125"/>
            <a:ext cx="5334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3811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NWP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809750"/>
            <a:ext cx="5334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Numerical Weather Prediction (NWP) relies on fluid dynamics and complex physical principles. It requires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supercomputers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and extreme expertise in atmospheric physics.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4766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ML Paradigm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905250"/>
            <a:ext cx="5334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Machine Learning models learn patterns from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historical data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without solving physical equations. This offers a computationally efficient alternative for local forecasting.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81125"/>
            <a:ext cx="5334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Evolution of Weather Forecasting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8850"/>
            <a:ext cx="349254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28850"/>
            <a:ext cx="349254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28850"/>
            <a:ext cx="3492549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57250" y="3200400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Multi-Horizon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7250" y="3629025"/>
            <a:ext cx="292104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Examining performance degradation across 3-day, 5-day, and 7-day future time frames.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35549" y="3200400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Multi-Output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35549" y="3629025"/>
            <a:ext cx="29210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Simultaneously predicting both Daily Maximum and Minimum air temperatures.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13849" y="3200400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Comparison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13849" y="3629025"/>
            <a:ext cx="29210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Evaluating Linear Regression, Random Forest, SVR, and Multi-Layer Perceptrons.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5622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5622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5622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Research Focus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2571750" y="2271712"/>
            <a:ext cx="7810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Data Understanding: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Analysis of meteorological patterns in Cesena, Italy (2015-2025).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2571750" y="3090862"/>
            <a:ext cx="7810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Data Preparation: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Aggregation of 6-hour measurements into daily max/min features.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2571750" y="3910012"/>
            <a:ext cx="7810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Modeling: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Implementation of four regression architectures with hyperparameter tuning.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2571750" y="4729162"/>
            <a:ext cx="7810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Evaluation: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Testing on unseen 2023-2025 data using RMSE, MAE, and R² metrics.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Methodological Framework: CRISP-DM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750" y="22717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750" y="3090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750" y="3910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750" y="472916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723900"/>
            <a:ext cx="52006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Study Area: Cesena, Italy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26695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Coordinates: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44.18° N, 12.21° E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3000375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Period: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2015 – 2025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373380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Open-Meteo Platform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4667250"/>
            <a:ext cx="4953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dataset includes 16,072 observations of variables like humidity, pressure, cloud cover, and wind speed, aggregated into a 4,018-sample daily dataset.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244316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Multicollinearity Removal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2871787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Highly collinear features (&gt;0.9 correlation) were removed to prevent instability: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286500" y="244316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Temporal Decomposition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286500" y="2871787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DateTime stamps were split into discrete numerical features to capture seasonality: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286500" y="3709987"/>
            <a:ext cx="533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Hour, Month, Year, Day of Week, Day of Month.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286500" y="4233862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Standardization: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All features centered at zero mean with unit variance for stable convergence.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52500" y="3709987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Temp vs Apparent Temp (0.991)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52500" y="4214812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Surface Pressure vs MSL Pressure (1.000)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52500" y="4719637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Soil Temp vs Apparent Temp (0.980)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Engineering &amp; Reduction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099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148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1963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9398"/>
            <a:ext cx="4267200" cy="3488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89398"/>
            <a:ext cx="4267200" cy="348882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981700" y="2241798"/>
            <a:ext cx="5638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Linear Regression: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Statistical baseline model.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981700" y="2746623"/>
            <a:ext cx="56388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Random Forest: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Optimized with 200 trees and max depth of 20 via Grid Search.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981700" y="3565773"/>
            <a:ext cx="5638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SVR: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RBF kernel with C=100 and Gamma=0.1.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981700" y="4070598"/>
            <a:ext cx="56388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MLP (Neural Network):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(100, 50) hidden layer config, ReLU activation, L2 regularization (0.001).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Evaluated Architectures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0700" y="22417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0700" y="27466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0700" y="356577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0700" y="407059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0862" y="2939653"/>
            <a:ext cx="2505075" cy="978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7437" y="2854076"/>
            <a:ext cx="2933700" cy="114984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571500" y="4384923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Metrics are averaged across both Maximum and Minimum temperature outputs.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3238261" y="3139678"/>
            <a:ext cx="221027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Root Mean Square Error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0887" y="3358753"/>
            <a:ext cx="2105025" cy="35956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6304121" y="3054101"/>
            <a:ext cx="26603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Coefficient of Determination</a:t>
            </a:r>
            <a:endParaRPr/>
          </a:p>
        </p:txBody>
      </p:sp>
      <p:pic>
        <p:nvPicPr>
          <p:cNvPr descr="image.png" id="194" name="Google Shape;19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7462" y="3273176"/>
            <a:ext cx="2533650" cy="53072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Criteria for Success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81125"/>
            <a:ext cx="11049000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557212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MLP achieved a 47% reduction in error compared to the linear baseline.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Same-Day Prediction Performance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81125"/>
            <a:ext cx="11049000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571500" y="528637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Error increase diminishes at longer horizons as models converge toward climatological means.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Multi-Step Horizon Forecasting (MLP)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2852737" y="1619250"/>
            <a:ext cx="32099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87%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2852737" y="2762250"/>
            <a:ext cx="32099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VARIANCE EXPLAINED (R²)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6634162" y="1619250"/>
            <a:ext cx="2705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3.3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634162" y="2762250"/>
            <a:ext cx="2705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MAX RMSE FOR 5-DAY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2286000" y="3590925"/>
            <a:ext cx="8382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Non-Linear Superiority: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Neural networks are exceptionally well-suited for correlated multi-output tasks.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2286000" y="4410075"/>
            <a:ext cx="8382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Reliability Window: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Accurate forecasting is highly viable within a 3-5 day window (RMSE &lt; 3.3°C).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2286000" y="5229225"/>
            <a:ext cx="8382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Efficiency: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Batch learning with structured features avoids the computational complexity of recurrent models.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Conclusions</a:t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35909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4410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52292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047750"/>
            <a:ext cx="5334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571500" y="1936402"/>
            <a:ext cx="560070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2797373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Questions &amp; Discussion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71500" y="3873698"/>
            <a:ext cx="533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Contact: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sehenelzem.altun@studio.unibo.it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4397573"/>
            <a:ext cx="533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University of Bologna | 2025</a:t>
            </a:r>
            <a:endParaRPr/>
          </a:p>
        </p:txBody>
      </p:sp>
      <p:pic>
        <p:nvPicPr>
          <p:cNvPr descr="image.png" id="242" name="Google Shape;24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047750"/>
            <a:ext cx="53340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571500" y="220980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3152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39243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4686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4686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7" name="Google Shape;2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8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666875" y="235267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https://static.vecteezy.com/system/resources/previews/060/763/021/non_2x/elegant-abstract-data-analysis-chart-and-graph-transparent-background-professional-free-png.png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666875" y="277177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descr="image.png" id="260" name="Google Shape;26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95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666875" y="33027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https://upload.wikimedia.org/wikipedia/commons/1/1b/Cesena%2C_Emilia-Romagna%2C_Italy.jpg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666875" y="35361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commons.wikimedia.org</a:t>
            </a:r>
            <a:endParaRPr/>
          </a:p>
        </p:txBody>
      </p:sp>
      <p:pic>
        <p:nvPicPr>
          <p:cNvPr descr="image.png" id="263" name="Google Shape;26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7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40743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https://framerusercontent.com/images/aZW0MrFDu8LFrU2iSYHOIpI8E.png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43076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www.v7labs.com</a:t>
            </a:r>
            <a:endParaRPr/>
          </a:p>
        </p:txBody>
      </p:sp>
      <p:pic>
        <p:nvPicPr>
          <p:cNvPr descr="image.png" id="266" name="Google Shape;26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38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48458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https://www.noaa.gov/sites/default/files/styles/landscape_width_1275/public/legacy/image/2019/Jun/weather_image.jpg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50792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www.noaa.gov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